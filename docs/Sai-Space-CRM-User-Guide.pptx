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guide covers what the CRM does today (Phase 1): secure sign-in, navigation and employee accounts. Modules still being built are listed near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works today. Right: modules in progress. Their pages already appear in the menu with a "being built"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no built-in demo logins. The Owner account is created once with a script; all other accounts come from the Employees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and Admin accounts see nothing until the authenticator code is verified, even with the right password. Keep the phone clock on automatic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Lost your phone or used a shared computer? Use "Log out all devices" from the menu under your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role also gets the Dashboard. "Own only" means records they own or created. The database enforces these rules, not just the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temporary password is shown once. The employee must choose their own password at first sign-in. Changing a role resets the ticks to that role's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phone numbers are revealed only when needed, such as tapping Call, and every reveal is logged. Report a lost phone to your Admin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(Leads) is next. Pages for later modules already appear in the menu with a "being built"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sign-in problems are solved by waiting 15 minutes or asking the Admin to unlock or reset the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The full user manual has step-by-step detail for every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301752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2560320" cy="2450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023360" y="1417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User Guide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402336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C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Space Realty  ·  Phase 1 release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in, finding your way, and managing employee accounts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0233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CRM does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live; the sales modules arrive in the next phases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now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1122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97510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and password, locked after 5 wrong tries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7523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61518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verification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 code for Owner and Admin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3924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25526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by role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only their own pages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03250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9534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accounts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logins and sets access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709160" y="141732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9834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built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983480" y="20116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and follow-ups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and unit inventory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visits, bookings, clients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live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and incentives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reports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Space Realty CRM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 setup (Owner)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once; everyone else just receives a username and temporary password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C08A25"/>
          </a:solidFill>
          <a:ln w="12700">
            <a:solidFill>
              <a:srgbClr val="C08A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Supabase project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762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plan, Mumbai region. Save the database password.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645920"/>
            <a:ext cx="411480" cy="411480"/>
          </a:xfrm>
          <a:prstGeom prst="ellipse">
            <a:avLst/>
          </a:prstGeom>
          <a:solidFill>
            <a:srgbClr val="C08A25"/>
          </a:solidFill>
          <a:ln w="12700">
            <a:solidFill>
              <a:srgbClr val="C08A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connects it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762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server functions are set 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45920"/>
            <a:ext cx="411480" cy="411480"/>
          </a:xfrm>
          <a:prstGeom prst="ellipse">
            <a:avLst/>
          </a:prstGeom>
          <a:solidFill>
            <a:srgbClr val="C08A25"/>
          </a:solidFill>
          <a:ln w="12700">
            <a:solidFill>
              <a:srgbClr val="C08A2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Owner login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762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scripts/create-owner.mjs and type your password.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C08A25"/>
          </a:solidFill>
          <a:ln w="12700">
            <a:solidFill>
              <a:srgbClr val="C08A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and scan QR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76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Google or Microsoft Authenticator.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246120"/>
            <a:ext cx="411480" cy="411480"/>
          </a:xfrm>
          <a:prstGeom prst="ellipse">
            <a:avLst/>
          </a:prstGeom>
          <a:solidFill>
            <a:srgbClr val="C08A25"/>
          </a:solidFill>
          <a:ln w="12700">
            <a:solidFill>
              <a:srgbClr val="C08A2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team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776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page: one login per person.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246120"/>
            <a:ext cx="411480" cy="411480"/>
          </a:xfrm>
          <a:prstGeom prst="ellipse">
            <a:avLst/>
          </a:prstGeom>
          <a:solidFill>
            <a:srgbClr val="C08A25"/>
          </a:solidFill>
          <a:ln w="12700">
            <a:solidFill>
              <a:srgbClr val="C08A2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 phones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776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or Safari: Add to Home Screen.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Space Realty CRM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time: all steps. After that: sign in (Owner and Admin also enter the code)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24128" y="1417320"/>
            <a:ext cx="685800" cy="6858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15681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Admin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72768"/>
            <a:ext cx="365760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172968" y="1417320"/>
            <a:ext cx="685800" cy="6858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844" y="156819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6060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own password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260604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sign-in only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572768"/>
            <a:ext cx="365760" cy="3657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321808" y="1417320"/>
            <a:ext cx="685800" cy="6858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684" y="1568196"/>
            <a:ext cx="384048" cy="38404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75488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code</a:t>
            </a:r>
            <a:endParaRPr lang="en-US" sz="1350" dirty="0"/>
          </a:p>
        </p:txBody>
      </p:sp>
      <p:sp>
        <p:nvSpPr>
          <p:cNvPr id="17" name="Text 10"/>
          <p:cNvSpPr txBox="1"/>
          <p:nvPr/>
        </p:nvSpPr>
        <p:spPr>
          <a:xfrm>
            <a:off x="475488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Admin only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572768"/>
            <a:ext cx="365760" cy="36576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470648" y="1417320"/>
            <a:ext cx="685800" cy="6858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1524" y="1568196"/>
            <a:ext cx="384048" cy="38404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9037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2" name="Text 13"/>
          <p:cNvSpPr txBox="1"/>
          <p:nvPr/>
        </p:nvSpPr>
        <p:spPr>
          <a:xfrm>
            <a:off x="690372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</a:t>
            </a:r>
            <a:endParaRPr lang="en-US" sz="1150" dirty="0"/>
          </a:p>
        </p:txBody>
      </p:sp>
      <p:sp>
        <p:nvSpPr>
          <p:cNvPr id="23" name="Shape 14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6858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rules</a:t>
            </a:r>
            <a:endParaRPr lang="en-US" sz="1350" dirty="0"/>
          </a:p>
        </p:txBody>
      </p:sp>
      <p:sp>
        <p:nvSpPr>
          <p:cNvPr id="25" name="Text 16"/>
          <p:cNvSpPr txBox="1"/>
          <p:nvPr/>
        </p:nvSpPr>
        <p:spPr>
          <a:xfrm>
            <a:off x="685800" y="349300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10 characters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Uppercase, lowercase and a digit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contain your username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in known data breaches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475488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wrong tries  </a:t>
            </a:r>
            <a:pPr indent="0" marL="0">
              <a:buNone/>
            </a:pPr>
            <a:r>
              <a:rPr lang="en-US" sz="13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locks for 15 minutes</a:t>
            </a:r>
            <a:endParaRPr lang="en-US" sz="1350" dirty="0"/>
          </a:p>
        </p:txBody>
      </p:sp>
      <p:sp>
        <p:nvSpPr>
          <p:cNvPr id="27" name="Text 18"/>
          <p:cNvSpPr txBox="1"/>
          <p:nvPr/>
        </p:nvSpPr>
        <p:spPr>
          <a:xfrm>
            <a:off x="4754880" y="3593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hours idle  </a:t>
            </a:r>
            <a:pPr indent="0" marL="0">
              <a:buNone/>
            </a:pPr>
            <a:r>
              <a:rPr lang="en-US" sz="13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out automatically</a:t>
            </a:r>
            <a:endParaRPr lang="en-US" sz="1350" dirty="0"/>
          </a:p>
        </p:txBody>
      </p:sp>
      <p:sp>
        <p:nvSpPr>
          <p:cNvPr id="28" name="Text 19"/>
          <p:cNvSpPr txBox="1"/>
          <p:nvPr/>
        </p:nvSpPr>
        <p:spPr>
          <a:xfrm>
            <a:off x="4754880" y="41239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  </a:t>
            </a:r>
            <a:pPr indent="0" marL="0">
              <a:buNone/>
            </a:pPr>
            <a:r>
              <a:rPr lang="en-US" sz="135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Admin to reset it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Space Realty CRM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your 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see the pages your account has been given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5837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417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you can open. Gold shows where you are.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548640" cy="548640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15837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1417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button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phones, opens the sidebar as a slide-out menu.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57200" y="2560320"/>
            <a:ext cx="548640" cy="548640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268102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2514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tabs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phones, one-tap links to your main pages.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663440" y="2560320"/>
            <a:ext cx="548640" cy="548640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141" y="268102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94960" y="2514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bell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number = unread. Tap Mark all read to clear.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3778301"/>
            <a:ext cx="307238" cy="30723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password, Log out, Log out all devices.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4663440" y="3657600"/>
            <a:ext cx="548640" cy="548640"/>
          </a:xfrm>
          <a:prstGeom prst="ellipse">
            <a:avLst/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4141" y="3778301"/>
            <a:ext cx="307238" cy="30723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39496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page after sign-in, with shortcuts.</a:t>
            </a:r>
            <a:endParaRPr lang="en-US" sz="1450" dirty="0"/>
          </a:p>
        </p:txBody>
      </p:sp>
      <p:sp>
        <p:nvSpPr>
          <p:cNvPr id="22" name="Text 14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Space Realty CRM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and access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per role; the Admin can add or remove pages for one person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by 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records of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except Settings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Person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Leads, Projects, Visits, Bookings, Clients, Tasks, Attendance, Incentives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Telecaller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Leads, Projects, Visits, Tasks, Attendance (phones masked)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Leads, Projects, Visits, Tasks, Attendance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Marketing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Leads, Projects, 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Everyone, read-only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Projects, Bookings, Incentives, 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Everyone, read-only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Space Realty CRM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employees (Admin)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page: create logins and decide exactly what each person can open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team member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team member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name, username, role, manager, mobile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ticks; changes show as custom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login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one-time temporary password privately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576072"/>
          </a:xfrm>
          <a:prstGeom prst="roundRect">
            <a:avLst>
              <a:gd name="adj" fmla="val 12698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64608" y="1444752"/>
            <a:ext cx="429768" cy="429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9157" y="1539301"/>
            <a:ext cx="240670" cy="24067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1371600"/>
            <a:ext cx="3154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 </a:t>
            </a:r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manager, phone, access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057400"/>
            <a:ext cx="3931920" cy="576072"/>
          </a:xfrm>
          <a:prstGeom prst="roundRect">
            <a:avLst>
              <a:gd name="adj" fmla="val 12698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64608" y="2130552"/>
            <a:ext cx="429768" cy="429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157" y="2225101"/>
            <a:ext cx="240670" cy="24067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40680" y="2057400"/>
            <a:ext cx="3154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  </a:t>
            </a:r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temp password; signs out everywhere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2743200"/>
            <a:ext cx="3931920" cy="576072"/>
          </a:xfrm>
          <a:prstGeom prst="roundRect">
            <a:avLst>
              <a:gd name="adj" fmla="val 12698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64608" y="2816352"/>
            <a:ext cx="429768" cy="429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157" y="2910901"/>
            <a:ext cx="240670" cy="24067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40680" y="2743200"/>
            <a:ext cx="3154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 </a:t>
            </a:r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a 15-minute lockout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3429000"/>
            <a:ext cx="3931920" cy="576072"/>
          </a:xfrm>
          <a:prstGeom prst="roundRect">
            <a:avLst>
              <a:gd name="adj" fmla="val 12698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4608" y="3502152"/>
            <a:ext cx="429768" cy="429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157" y="3596701"/>
            <a:ext cx="240670" cy="24067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3429000"/>
            <a:ext cx="3154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 </a:t>
            </a:r>
            <a:pPr indent="0" marL="0">
              <a:buNone/>
            </a:pPr>
            <a:r>
              <a:rPr lang="en-US" sz="12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sign-in now; records stay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change their own access  ·  Only the Owner manages Admins  ·  Every change is logged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Space Realty CRM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is protected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phones, emails, IDs, deal amounts and GPS points are stored encrypted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AES-256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on personal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download links expire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points kept, then deleted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02B50"/>
          </a:solidFill>
          <a:ln w="12700">
            <a:solidFill>
              <a:srgbClr val="102B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years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lost leads anonymised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rules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639312"/>
            <a:ext cx="457200" cy="457200"/>
          </a:xfrm>
          <a:prstGeom prst="ellipse">
            <a:avLst/>
          </a:prstGeom>
          <a:solidFill>
            <a:srgbClr val="C08A25"/>
          </a:solidFill>
          <a:ln w="12700">
            <a:solidFill>
              <a:srgbClr val="C08A25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39896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24128" y="359359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your password or codes, even with the Admin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46120" y="3639312"/>
            <a:ext cx="457200" cy="457200"/>
          </a:xfrm>
          <a:prstGeom prst="ellipse">
            <a:avLst/>
          </a:prstGeom>
          <a:solidFill>
            <a:srgbClr val="C08A25"/>
          </a:solidFill>
          <a:ln w="12700">
            <a:solidFill>
              <a:srgbClr val="C08A25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3739896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813048" y="359359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shared computers; use Log out all devices after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035040" y="3639312"/>
            <a:ext cx="457200" cy="457200"/>
          </a:xfrm>
          <a:prstGeom prst="ellipse">
            <a:avLst/>
          </a:prstGeom>
          <a:solidFill>
            <a:srgbClr val="C08A25"/>
          </a:solidFill>
          <a:ln w="12700">
            <a:solidFill>
              <a:srgbClr val="C08A25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3739896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601968" y="359359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are not encrypted: store safely, delete after use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ends with a working demo before the next starts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7516368" cy="0"/>
          </a:xfrm>
          <a:prstGeom prst="line">
            <a:avLst/>
          </a:prstGeom>
          <a:noFill/>
          <a:ln w="25400">
            <a:solidFill>
              <a:srgbClr val="F0CB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64208"/>
            <a:ext cx="512064" cy="512064"/>
          </a:xfrm>
          <a:prstGeom prst="ellipse">
            <a:avLst/>
          </a:prstGeom>
          <a:solidFill>
            <a:srgbClr val="C08A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46888" y="23317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46888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Kanban, follow-ups, call &amp; WhatsApp, import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19656" y="1664208"/>
            <a:ext cx="512064" cy="51206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19656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23317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499616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Towers and colour-coded unit grid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72384" y="1664208"/>
            <a:ext cx="512064" cy="51206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72384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52344" y="23317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&amp; bookings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752344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units, payments, documents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5112" y="1664208"/>
            <a:ext cx="512064" cy="51206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25112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005072" y="23317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005072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check-in and live team map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1664208"/>
            <a:ext cx="512064" cy="51206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7840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3317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incentives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dates; commission per booking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30568" y="1664208"/>
            <a:ext cx="512064" cy="51206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0568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10528" y="23317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510528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numbers and exports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83296" y="1664208"/>
            <a:ext cx="512064" cy="51206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83296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763256" y="233172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763256" y="283464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and ad-form lead capture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live tracking works while the CRM is open on the phone; phones pause location in the background.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Space Realty CRM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messages you might see and what to do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username or 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spelling and caps; ask your Admin if it continues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temporarily 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15 minutes, or ask your Admin to unlock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code is not 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the phone's time to automatic; use the newest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appeared in a data breach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a different 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restricted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your Admin to tick that page for 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out unexpectedly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hours idle or a reset: sign in again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authenticator 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Owner/Admin: contact your developer to reset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Space Realty CRM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77724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515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423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C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Admin for help with accounts and access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97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your space. Build your future.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Sai Space Realty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 Space Realty CRM - User Guide</dc:title>
  <dc:subject>PptxGenJS Presentation</dc:subject>
  <dc:creator>PptxGenJS</dc:creator>
  <cp:lastModifiedBy>PptxGenJS</cp:lastModifiedBy>
  <cp:revision>1</cp:revision>
  <dcterms:created xsi:type="dcterms:W3CDTF">2026-09-29T11:53:14Z</dcterms:created>
  <dcterms:modified xsi:type="dcterms:W3CDTF">2026-09-29T11:53:14Z</dcterms:modified>
</cp:coreProperties>
</file>