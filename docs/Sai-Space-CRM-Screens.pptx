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walk through the screens built so far: sign-in, the main layout, and employee accounts. Names and numbers are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Shown as it looks once connected to the live server. No demo logins exist; five wrong passwords lock the account for 15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phones the menu becomes a slide-out drawer and the main pages sit in a bottom tab bar. Chrome or Safari: Add to Home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 and Admin also scan a QR code with an authenticator app at this stage (not shown; it needs the live server).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will show live figures in Phase 7. Today it greets the user and lists their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 out all devices is for a lost phone or a shared computer.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Icons on each row: edit, reset password, unlock (when locked) and deactivate.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Owner can create Admins. Nobody can change their own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no self-service reset, on purpose: resets go through the 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Owner. Right: a Telecaller, who only sees Dashboard, Leads, Projects, Site Visits, Tasks and Attendance.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Leads arrives in Phase 2; the "being built" page names the phase for every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builds the Leads module. These screens will be updated as each module ships.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594360" cy="594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15544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CRM looks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C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Space Realty CRM · Phase 1 screens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32461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 from the current build, shown with sample data. Works on computers and phones.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306824" y="1014984"/>
            <a:ext cx="4416552" cy="2970657"/>
          </a:xfrm>
          <a:prstGeom prst="roundRect">
            <a:avLst>
              <a:gd name="adj" fmla="val 184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434840" y="1097280"/>
            <a:ext cx="73152" cy="73152"/>
          </a:xfrm>
          <a:prstGeom prst="ellipse">
            <a:avLst/>
          </a:prstGeom>
          <a:solidFill>
            <a:srgbClr val="E06C5A"/>
          </a:solidFill>
          <a:ln w="12700">
            <a:solidFill>
              <a:srgbClr val="E06C5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53712" y="1097280"/>
            <a:ext cx="73152" cy="73152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72584" y="1097280"/>
            <a:ext cx="73152" cy="73152"/>
          </a:xfrm>
          <a:prstGeom prst="ellipse">
            <a:avLst/>
          </a:prstGeom>
          <a:solidFill>
            <a:srgbClr val="5AC37A"/>
          </a:solidFill>
          <a:ln w="12700">
            <a:solidFill>
              <a:srgbClr val="5AC37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234440"/>
            <a:ext cx="4343400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Sign-in screen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58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thing every user sees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66344" y="1243584"/>
            <a:ext cx="5650992" cy="3742182"/>
          </a:xfrm>
          <a:prstGeom prst="roundRect">
            <a:avLst>
              <a:gd name="adj" fmla="val 146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73152" cy="73152"/>
          </a:xfrm>
          <a:prstGeom prst="ellipse">
            <a:avLst/>
          </a:prstGeom>
          <a:solidFill>
            <a:srgbClr val="E06C5A"/>
          </a:solidFill>
          <a:ln w="12700">
            <a:solidFill>
              <a:srgbClr val="E06C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325880"/>
            <a:ext cx="73152" cy="73152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1325880"/>
            <a:ext cx="73152" cy="73152"/>
          </a:xfrm>
          <a:prstGeom prst="ellipse">
            <a:avLst/>
          </a:prstGeom>
          <a:solidFill>
            <a:srgbClr val="5AC37A"/>
          </a:solidFill>
          <a:ln w="12700">
            <a:solidFill>
              <a:srgbClr val="5AC37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5577840" cy="34861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0" y="1417320"/>
            <a:ext cx="384048" cy="384048"/>
          </a:xfrm>
          <a:prstGeom prst="ellipse">
            <a:avLst/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0876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903720" y="13716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welcome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night skyline in Sai Space navy and gold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0" y="2286000"/>
            <a:ext cx="384048" cy="384048"/>
          </a:xfrm>
          <a:prstGeom prst="ellipse">
            <a:avLst/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37744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03720" y="22402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and password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come only from the Admin; no public sign-up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0" y="3154680"/>
            <a:ext cx="384048" cy="384048"/>
          </a:xfrm>
          <a:prstGeom prst="ellipse">
            <a:avLst/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4612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903720" y="31089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after 5 wrong tries; clear, friendly error messages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 ·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Made for phones too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58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staff can add it to the home screen and use it like an app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325604" y="1216152"/>
            <a:ext cx="1628000" cy="3374136"/>
          </a:xfrm>
          <a:prstGeom prst="roundRect">
            <a:avLst>
              <a:gd name="adj" fmla="val 898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612" y="1280160"/>
            <a:ext cx="1499984" cy="32461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2412" y="4663440"/>
            <a:ext cx="2414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758000" y="1216152"/>
            <a:ext cx="1628000" cy="3374136"/>
          </a:xfrm>
          <a:prstGeom prst="roundRect">
            <a:avLst>
              <a:gd name="adj" fmla="val 898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008" y="1280160"/>
            <a:ext cx="1499984" cy="32461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364808" y="4663440"/>
            <a:ext cx="2414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bottom tabs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190396" y="1216152"/>
            <a:ext cx="1628000" cy="3374136"/>
          </a:xfrm>
          <a:prstGeom prst="roundRect">
            <a:avLst>
              <a:gd name="adj" fmla="val 898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04" y="1280160"/>
            <a:ext cx="1499984" cy="32461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97204" y="4663440"/>
            <a:ext cx="2414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Slide-out menu</a:t>
            </a:r>
            <a:endParaRPr lang="en-US" sz="1250" dirty="0"/>
          </a:p>
        </p:txBody>
      </p:sp>
      <p:sp>
        <p:nvSpPr>
          <p:cNvPr id="13" name="Text 8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 ·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sign-in: own password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58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passwords from the Admin must be replaced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66344" y="1243584"/>
            <a:ext cx="5650992" cy="3742182"/>
          </a:xfrm>
          <a:prstGeom prst="roundRect">
            <a:avLst>
              <a:gd name="adj" fmla="val 146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73152" cy="73152"/>
          </a:xfrm>
          <a:prstGeom prst="ellipse">
            <a:avLst/>
          </a:prstGeom>
          <a:solidFill>
            <a:srgbClr val="E06C5A"/>
          </a:solidFill>
          <a:ln w="12700">
            <a:solidFill>
              <a:srgbClr val="E06C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325880"/>
            <a:ext cx="73152" cy="73152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1325880"/>
            <a:ext cx="73152" cy="73152"/>
          </a:xfrm>
          <a:prstGeom prst="ellipse">
            <a:avLst/>
          </a:prstGeom>
          <a:solidFill>
            <a:srgbClr val="5AC37A"/>
          </a:solidFill>
          <a:ln w="12700">
            <a:solidFill>
              <a:srgbClr val="5AC37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5577840" cy="34861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0" y="1417320"/>
            <a:ext cx="384048" cy="384048"/>
          </a:xfrm>
          <a:prstGeom prst="ellipse">
            <a:avLst/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0876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903720" y="13716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new password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before anything else opens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0" y="2286000"/>
            <a:ext cx="384048" cy="384048"/>
          </a:xfrm>
          <a:prstGeom prst="ellipse">
            <a:avLst/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37744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03720" y="22402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rules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characters, upper and lower case, a digit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0" y="3154680"/>
            <a:ext cx="384048" cy="384048"/>
          </a:xfrm>
          <a:prstGeom prst="ellipse">
            <a:avLst/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4612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903720" y="31089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check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seen in known data leaks are refused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 ·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58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after sign-in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66344" y="1243584"/>
            <a:ext cx="5650992" cy="3742182"/>
          </a:xfrm>
          <a:prstGeom prst="roundRect">
            <a:avLst>
              <a:gd name="adj" fmla="val 146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73152" cy="73152"/>
          </a:xfrm>
          <a:prstGeom prst="ellipse">
            <a:avLst/>
          </a:prstGeom>
          <a:solidFill>
            <a:srgbClr val="E06C5A"/>
          </a:solidFill>
          <a:ln w="12700">
            <a:solidFill>
              <a:srgbClr val="E06C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325880"/>
            <a:ext cx="73152" cy="73152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1325880"/>
            <a:ext cx="73152" cy="73152"/>
          </a:xfrm>
          <a:prstGeom prst="ellipse">
            <a:avLst/>
          </a:prstGeom>
          <a:solidFill>
            <a:srgbClr val="5AC37A"/>
          </a:solidFill>
          <a:ln w="12700">
            <a:solidFill>
              <a:srgbClr val="5AC37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5577840" cy="34861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0" y="1417320"/>
            <a:ext cx="384048" cy="384048"/>
          </a:xfrm>
          <a:prstGeom prst="ellipse">
            <a:avLst/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0876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903720" y="13716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and gold sidebar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this person may open; gold marks where you are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0" y="2286000"/>
            <a:ext cx="384048" cy="384048"/>
          </a:xfrm>
          <a:prstGeom prst="ellipse">
            <a:avLst/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37744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03720" y="22402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 tiles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to each module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0" y="3154680"/>
            <a:ext cx="384048" cy="384048"/>
          </a:xfrm>
          <a:prstGeom prst="ellipse">
            <a:avLst/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4612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903720" y="31089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numbers next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pipeline and team stats arrive in Phase 7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 ·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 and account menu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58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 corner of every page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66344" y="1243584"/>
            <a:ext cx="4279392" cy="2923404"/>
          </a:xfrm>
          <a:prstGeom prst="roundRect">
            <a:avLst>
              <a:gd name="adj" fmla="val 187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73152" cy="73152"/>
          </a:xfrm>
          <a:prstGeom prst="ellipse">
            <a:avLst/>
          </a:prstGeom>
          <a:solidFill>
            <a:srgbClr val="E06C5A"/>
          </a:solidFill>
          <a:ln w="12700">
            <a:solidFill>
              <a:srgbClr val="E06C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325880"/>
            <a:ext cx="73152" cy="73152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1325880"/>
            <a:ext cx="73152" cy="73152"/>
          </a:xfrm>
          <a:prstGeom prst="ellipse">
            <a:avLst/>
          </a:prstGeom>
          <a:solidFill>
            <a:srgbClr val="5AC37A"/>
          </a:solidFill>
          <a:ln w="12700">
            <a:solidFill>
              <a:srgbClr val="5AC37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4206240" cy="26673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84064" y="1243584"/>
            <a:ext cx="3593592" cy="2720340"/>
          </a:xfrm>
          <a:prstGeom prst="roundRect">
            <a:avLst>
              <a:gd name="adj" fmla="val 201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212080" y="1325880"/>
            <a:ext cx="73152" cy="73152"/>
          </a:xfrm>
          <a:prstGeom prst="ellipse">
            <a:avLst/>
          </a:prstGeom>
          <a:solidFill>
            <a:srgbClr val="E06C5A"/>
          </a:solidFill>
          <a:ln w="12700">
            <a:solidFill>
              <a:srgbClr val="E06C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30952" y="1325880"/>
            <a:ext cx="73152" cy="73152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49824" y="1325880"/>
            <a:ext cx="73152" cy="73152"/>
          </a:xfrm>
          <a:prstGeom prst="ellipse">
            <a:avLst/>
          </a:prstGeom>
          <a:solidFill>
            <a:srgbClr val="5AC37A"/>
          </a:solidFill>
          <a:ln w="12700">
            <a:solidFill>
              <a:srgbClr val="5AC37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3520440" cy="24643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02920" y="4251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New-lead alerts with an unread count; Mark all read clears them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120640" y="42519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password, Log out, or Log out all devices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 ·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58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Admin’s control panel for logins and access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66344" y="1243584"/>
            <a:ext cx="5650992" cy="3742182"/>
          </a:xfrm>
          <a:prstGeom prst="roundRect">
            <a:avLst>
              <a:gd name="adj" fmla="val 146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73152" cy="73152"/>
          </a:xfrm>
          <a:prstGeom prst="ellipse">
            <a:avLst/>
          </a:prstGeom>
          <a:solidFill>
            <a:srgbClr val="E06C5A"/>
          </a:solidFill>
          <a:ln w="12700">
            <a:solidFill>
              <a:srgbClr val="E06C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325880"/>
            <a:ext cx="73152" cy="73152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1325880"/>
            <a:ext cx="73152" cy="73152"/>
          </a:xfrm>
          <a:prstGeom prst="ellipse">
            <a:avLst/>
          </a:prstGeom>
          <a:solidFill>
            <a:srgbClr val="5AC37A"/>
          </a:solidFill>
          <a:ln w="12700">
            <a:solidFill>
              <a:srgbClr val="5AC37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5577840" cy="34861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0" y="1417320"/>
            <a:ext cx="384048" cy="384048"/>
          </a:xfrm>
          <a:prstGeom prst="ellipse">
            <a:avLst/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0876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903720" y="13716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team at a glance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manager, custom access and status per person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0" y="2286000"/>
            <a:ext cx="384048" cy="384048"/>
          </a:xfrm>
          <a:prstGeom prst="ellipse">
            <a:avLst/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37744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03720" y="22402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masked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98••••••23 — full numbers are stored encrypted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0" y="3154680"/>
            <a:ext cx="384048" cy="384048"/>
          </a:xfrm>
          <a:prstGeom prst="ellipse">
            <a:avLst/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4612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903720" y="31089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badges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Active, Locked, Inactive, Temp password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 ·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team member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58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form creates the login and sets exact access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66344" y="1243584"/>
            <a:ext cx="5650992" cy="3742182"/>
          </a:xfrm>
          <a:prstGeom prst="roundRect">
            <a:avLst>
              <a:gd name="adj" fmla="val 146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73152" cy="73152"/>
          </a:xfrm>
          <a:prstGeom prst="ellipse">
            <a:avLst/>
          </a:prstGeom>
          <a:solidFill>
            <a:srgbClr val="E06C5A"/>
          </a:solidFill>
          <a:ln w="12700">
            <a:solidFill>
              <a:srgbClr val="E06C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325880"/>
            <a:ext cx="73152" cy="73152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1325880"/>
            <a:ext cx="73152" cy="73152"/>
          </a:xfrm>
          <a:prstGeom prst="ellipse">
            <a:avLst/>
          </a:prstGeom>
          <a:solidFill>
            <a:srgbClr val="5AC37A"/>
          </a:solidFill>
          <a:ln w="12700">
            <a:solidFill>
              <a:srgbClr val="5AC37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5577840" cy="34861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0" y="1417320"/>
            <a:ext cx="384048" cy="384048"/>
          </a:xfrm>
          <a:prstGeom prst="ellipse">
            <a:avLst/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0876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903720" y="13716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presets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role and its default pages are ticked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0" y="2286000"/>
            <a:ext cx="384048" cy="384048"/>
          </a:xfrm>
          <a:prstGeom prst="ellipse">
            <a:avLst/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37744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03720" y="22402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per person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or untick any page; changes marked custom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0" y="3154680"/>
            <a:ext cx="384048" cy="384048"/>
          </a:xfrm>
          <a:prstGeom prst="ellipse">
            <a:avLst/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4612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903720" y="31089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password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and shown once to share privately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 ·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 a password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58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staff who forget their password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66344" y="1243584"/>
            <a:ext cx="5650992" cy="3742182"/>
          </a:xfrm>
          <a:prstGeom prst="roundRect">
            <a:avLst>
              <a:gd name="adj" fmla="val 146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73152" cy="73152"/>
          </a:xfrm>
          <a:prstGeom prst="ellipse">
            <a:avLst/>
          </a:prstGeom>
          <a:solidFill>
            <a:srgbClr val="E06C5A"/>
          </a:solidFill>
          <a:ln w="12700">
            <a:solidFill>
              <a:srgbClr val="E06C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325880"/>
            <a:ext cx="73152" cy="73152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1325880"/>
            <a:ext cx="73152" cy="73152"/>
          </a:xfrm>
          <a:prstGeom prst="ellipse">
            <a:avLst/>
          </a:prstGeom>
          <a:solidFill>
            <a:srgbClr val="5AC37A"/>
          </a:solidFill>
          <a:ln w="12700">
            <a:solidFill>
              <a:srgbClr val="5AC37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5577840" cy="34861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0" y="1417320"/>
            <a:ext cx="384048" cy="384048"/>
          </a:xfrm>
          <a:prstGeom prst="ellipse">
            <a:avLst/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0876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903720" y="13716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temporary password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sets their own at next sign-in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0" y="2286000"/>
            <a:ext cx="384048" cy="384048"/>
          </a:xfrm>
          <a:prstGeom prst="ellipse">
            <a:avLst/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37744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03720" y="22402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out everywhere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old sessions end immediately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0" y="3154680"/>
            <a:ext cx="384048" cy="384048"/>
          </a:xfrm>
          <a:prstGeom prst="ellipse">
            <a:avLst/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4612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903720" y="31089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reset is recorded in the audit log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 ·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role sees its own menu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58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CRM, different access — enforced by the database, not just hidden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66344" y="1243584"/>
            <a:ext cx="3959352" cy="2684907"/>
          </a:xfrm>
          <a:prstGeom prst="roundRect">
            <a:avLst>
              <a:gd name="adj" fmla="val 204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73152" cy="73152"/>
          </a:xfrm>
          <a:prstGeom prst="ellipse">
            <a:avLst/>
          </a:prstGeom>
          <a:solidFill>
            <a:srgbClr val="E06C5A"/>
          </a:solidFill>
          <a:ln w="12700">
            <a:solidFill>
              <a:srgbClr val="E06C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325880"/>
            <a:ext cx="73152" cy="73152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1325880"/>
            <a:ext cx="73152" cy="73152"/>
          </a:xfrm>
          <a:prstGeom prst="ellipse">
            <a:avLst/>
          </a:prstGeom>
          <a:solidFill>
            <a:srgbClr val="5AC37A"/>
          </a:solidFill>
          <a:ln w="12700">
            <a:solidFill>
              <a:srgbClr val="5AC37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3886200" cy="242887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18304" y="1243584"/>
            <a:ext cx="3959352" cy="2684907"/>
          </a:xfrm>
          <a:prstGeom prst="roundRect">
            <a:avLst>
              <a:gd name="adj" fmla="val 204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325880"/>
            <a:ext cx="73152" cy="73152"/>
          </a:xfrm>
          <a:prstGeom prst="ellipse">
            <a:avLst/>
          </a:prstGeom>
          <a:solidFill>
            <a:srgbClr val="E06C5A"/>
          </a:solidFill>
          <a:ln w="12700">
            <a:solidFill>
              <a:srgbClr val="E06C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65192" y="1325880"/>
            <a:ext cx="73152" cy="73152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84064" y="1325880"/>
            <a:ext cx="73152" cy="73152"/>
          </a:xfrm>
          <a:prstGeom prst="ellipse">
            <a:avLst/>
          </a:prstGeom>
          <a:solidFill>
            <a:srgbClr val="5AC37A"/>
          </a:solidFill>
          <a:ln w="12700">
            <a:solidFill>
              <a:srgbClr val="5AC37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3886200" cy="242887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02920" y="40233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 </a:t>
            </a:r>
            <a:pPr indent="0" marL="0">
              <a:buNone/>
            </a:pPr>
            <a:r>
              <a:rPr lang="en-US" sz="13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pages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754880" y="40233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Telecaller  </a:t>
            </a:r>
            <a:pPr indent="0" marL="0">
              <a:buNone/>
            </a:pPr>
            <a:r>
              <a:rPr lang="en-US" sz="13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pages, own leads only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 ·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messages, never a broken page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58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see for pages they lack, or pages still being built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66344" y="1243584"/>
            <a:ext cx="3959352" cy="2684907"/>
          </a:xfrm>
          <a:prstGeom prst="roundRect">
            <a:avLst>
              <a:gd name="adj" fmla="val 204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73152" cy="73152"/>
          </a:xfrm>
          <a:prstGeom prst="ellipse">
            <a:avLst/>
          </a:prstGeom>
          <a:solidFill>
            <a:srgbClr val="E06C5A"/>
          </a:solidFill>
          <a:ln w="12700">
            <a:solidFill>
              <a:srgbClr val="E06C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325880"/>
            <a:ext cx="73152" cy="73152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1325880"/>
            <a:ext cx="73152" cy="73152"/>
          </a:xfrm>
          <a:prstGeom prst="ellipse">
            <a:avLst/>
          </a:prstGeom>
          <a:solidFill>
            <a:srgbClr val="5AC37A"/>
          </a:solidFill>
          <a:ln w="12700">
            <a:solidFill>
              <a:srgbClr val="5AC37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3886200" cy="242887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18304" y="1243584"/>
            <a:ext cx="3959352" cy="2684907"/>
          </a:xfrm>
          <a:prstGeom prst="roundRect">
            <a:avLst>
              <a:gd name="adj" fmla="val 204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325880"/>
            <a:ext cx="73152" cy="73152"/>
          </a:xfrm>
          <a:prstGeom prst="ellipse">
            <a:avLst/>
          </a:prstGeom>
          <a:solidFill>
            <a:srgbClr val="E06C5A"/>
          </a:solidFill>
          <a:ln w="12700">
            <a:solidFill>
              <a:srgbClr val="E06C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65192" y="1325880"/>
            <a:ext cx="73152" cy="73152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84064" y="1325880"/>
            <a:ext cx="73152" cy="73152"/>
          </a:xfrm>
          <a:prstGeom prst="ellipse">
            <a:avLst/>
          </a:prstGeom>
          <a:solidFill>
            <a:srgbClr val="5AC37A"/>
          </a:solidFill>
          <a:ln w="12700">
            <a:solidFill>
              <a:srgbClr val="5AC37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3886200" cy="242887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02920" y="40233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restricted  </a:t>
            </a:r>
            <a:pPr indent="0" marL="0">
              <a:buNone/>
            </a:pPr>
            <a:r>
              <a:rPr lang="en-US" sz="13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Admin to grant it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754880" y="40233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built  </a:t>
            </a:r>
            <a:pPr indent="0" marL="0">
              <a:buNone/>
            </a:pPr>
            <a:r>
              <a:rPr lang="en-US" sz="13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phase delivers it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 ·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up: Leads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48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C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pipeline · follow-ups · call and WhatsApp · Excel import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screens shown with sample data. The live CRM goes online once the cloud database is set up.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797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your space. Build your future.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 Space Realty CRM - How it looks</dc:title>
  <dc:subject>PptxGenJS Presentation</dc:subject>
  <dc:creator>PptxGenJS</dc:creator>
  <cp:lastModifiedBy>PptxGenJS</cp:lastModifiedBy>
  <cp:revision>1</cp:revision>
  <dcterms:created xsi:type="dcterms:W3CDTF">2026-09-29T12:03:55Z</dcterms:created>
  <dcterms:modified xsi:type="dcterms:W3CDTF">2026-09-29T12:03:55Z</dcterms:modified>
</cp:coreProperties>
</file>